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04/Dec/2025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Uber Trip Analysis - Predictive Modeling (Jan-Feb 2015)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600" dirty="0"/>
              <a:t>By Tabish Deshmukh</a:t>
            </a:r>
          </a:p>
          <a:p>
            <a:r>
              <a:rPr sz="3600" dirty="0"/>
              <a:t>Data Analyst / ML Developer</a:t>
            </a:r>
          </a:p>
          <a:p>
            <a:r>
              <a:rPr sz="3600" dirty="0"/>
              <a:t>GitHub: github.com/</a:t>
            </a:r>
            <a:r>
              <a:rPr sz="3600" dirty="0" err="1"/>
              <a:t>taabishhhhhh</a:t>
            </a:r>
            <a:endParaRPr sz="3600" dirty="0"/>
          </a:p>
          <a:p>
            <a:r>
              <a:rPr sz="3600" dirty="0"/>
              <a:t>LinkedIn: linkedin.com/in/tabish-deshmukh-430279268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4000" dirty="0"/>
              <a:t>- Uber trip data for Jan-Feb 2015</a:t>
            </a:r>
          </a:p>
          <a:p>
            <a:r>
              <a:rPr sz="4000" dirty="0"/>
              <a:t>- Features: Date, Base Number, Active Vehicles, Trips</a:t>
            </a:r>
          </a:p>
          <a:p>
            <a:r>
              <a:rPr sz="4000" dirty="0"/>
              <a:t>- Objective: Forecast daily trip demand</a:t>
            </a:r>
          </a:p>
          <a:p>
            <a:r>
              <a:rPr sz="4000" dirty="0"/>
              <a:t>- Records: ~350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1. Data Loading &amp; Cleaning</a:t>
            </a:r>
          </a:p>
          <a:p>
            <a:r>
              <a:rPr sz="2800" dirty="0"/>
              <a:t>2. Exploratory Data Analysis (EDA)</a:t>
            </a:r>
          </a:p>
          <a:p>
            <a:r>
              <a:rPr sz="2800" dirty="0"/>
              <a:t>3. Feature Engineering</a:t>
            </a:r>
          </a:p>
          <a:p>
            <a:r>
              <a:rPr sz="2800" dirty="0"/>
              <a:t>4. Model Building (RF, XGB, GB)</a:t>
            </a:r>
          </a:p>
          <a:p>
            <a:r>
              <a:rPr sz="2800" dirty="0"/>
              <a:t>5. </a:t>
            </a:r>
            <a:r>
              <a:rPr sz="2800" dirty="0" err="1"/>
              <a:t>Explainability</a:t>
            </a:r>
            <a:r>
              <a:rPr sz="2800" dirty="0"/>
              <a:t> using SHAP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800"/>
            </a:pPr>
            <a:r>
              <a:rPr sz="2800" dirty="0"/>
              <a:t>Random Forest -&gt; MAPE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8.937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%</a:t>
            </a:r>
            <a:r>
              <a:rPr sz="2800" dirty="0"/>
              <a:t>, RMSE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20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70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.6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8</a:t>
            </a:r>
            <a:r>
              <a:rPr sz="2800" dirty="0"/>
              <a:t>, R</a:t>
            </a:r>
            <a:r>
              <a:rPr lang="en-US" sz="2800" dirty="0"/>
              <a:t>2:</a:t>
            </a:r>
            <a:r>
              <a:rPr sz="2800" dirty="0"/>
              <a:t> 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0.96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2800" dirty="0"/>
              <a:t>.</a:t>
            </a:r>
            <a:endParaRPr sz="2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sz="2800" dirty="0" err="1"/>
              <a:t>XGBoost</a:t>
            </a:r>
            <a:r>
              <a:rPr sz="2800" dirty="0"/>
              <a:t> -&gt; MAPE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8.72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%</a:t>
            </a:r>
            <a:r>
              <a:rPr sz="2800" dirty="0"/>
              <a:t>, RMSE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1798.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10</a:t>
            </a:r>
            <a:r>
              <a:rPr sz="2800" dirty="0"/>
              <a:t>, R2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</a:rPr>
              <a:t>0.97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endParaRPr sz="28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sz="2800" dirty="0"/>
              <a:t>Gradient Boosting -&gt; MAPE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sz="2800" dirty="0">
                <a:solidFill>
                  <a:schemeClr val="accent3"/>
                </a:solidFill>
              </a:rPr>
              <a:t>7.</a:t>
            </a:r>
            <a:r>
              <a:rPr lang="en-US" sz="2800" dirty="0">
                <a:solidFill>
                  <a:schemeClr val="accent3"/>
                </a:solidFill>
              </a:rPr>
              <a:t>139</a:t>
            </a:r>
            <a:r>
              <a:rPr sz="2800" dirty="0">
                <a:solidFill>
                  <a:schemeClr val="accent3"/>
                </a:solidFill>
              </a:rPr>
              <a:t>%</a:t>
            </a:r>
            <a:r>
              <a:rPr sz="2800" dirty="0"/>
              <a:t>, RMSE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sz="2800" dirty="0">
                <a:solidFill>
                  <a:schemeClr val="accent3"/>
                </a:solidFill>
              </a:rPr>
              <a:t>1</a:t>
            </a:r>
            <a:r>
              <a:rPr lang="en-US" sz="2800" dirty="0">
                <a:solidFill>
                  <a:schemeClr val="accent3"/>
                </a:solidFill>
              </a:rPr>
              <a:t>454.74</a:t>
            </a:r>
            <a:r>
              <a:rPr sz="2800" dirty="0"/>
              <a:t>, R2</a:t>
            </a:r>
            <a:r>
              <a:rPr lang="en-US" sz="2800" dirty="0"/>
              <a:t>:</a:t>
            </a:r>
            <a:r>
              <a:rPr sz="2800" dirty="0"/>
              <a:t> </a:t>
            </a:r>
            <a:r>
              <a:rPr sz="2800">
                <a:solidFill>
                  <a:schemeClr val="accent3"/>
                </a:solidFill>
              </a:rPr>
              <a:t>0.98</a:t>
            </a:r>
            <a:r>
              <a:rPr lang="en-US" sz="2800">
                <a:solidFill>
                  <a:schemeClr val="accent3"/>
                </a:solidFill>
              </a:rPr>
              <a:t>3.</a:t>
            </a:r>
            <a:endParaRPr sz="2800" dirty="0">
              <a:solidFill>
                <a:schemeClr val="accent3"/>
              </a:solidFill>
            </a:endParaRPr>
          </a:p>
          <a:p>
            <a:r>
              <a:rPr sz="2800" dirty="0"/>
              <a:t>Best Model: Gradient Boosting Regressor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SHAP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600" dirty="0"/>
              <a:t>- </a:t>
            </a:r>
            <a:r>
              <a:rPr sz="3600" dirty="0" err="1"/>
              <a:t>active_vehicles</a:t>
            </a:r>
            <a:r>
              <a:rPr sz="3600" dirty="0"/>
              <a:t>, lag_1, rolling_mean_3 were key features</a:t>
            </a:r>
          </a:p>
          <a:p>
            <a:r>
              <a:rPr sz="3600" dirty="0"/>
              <a:t>- SHAP global summary confirms variable influence</a:t>
            </a:r>
          </a:p>
          <a:p>
            <a:r>
              <a:rPr sz="3600" dirty="0"/>
              <a:t>- Local force plots validate model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Insights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Insights:</a:t>
            </a:r>
          </a:p>
          <a:p>
            <a:r>
              <a:rPr sz="2400" dirty="0"/>
              <a:t>- Trip count driven by active vehicles</a:t>
            </a:r>
          </a:p>
          <a:p>
            <a:r>
              <a:rPr sz="2400" dirty="0"/>
              <a:t>- Weekend spikes show cyclicity</a:t>
            </a:r>
          </a:p>
          <a:p>
            <a:r>
              <a:rPr sz="2400" dirty="0"/>
              <a:t>- Lag features capture demand memory</a:t>
            </a:r>
          </a:p>
          <a:p>
            <a:endParaRPr sz="2400" dirty="0"/>
          </a:p>
          <a:p>
            <a:r>
              <a:rPr sz="2400" dirty="0"/>
              <a:t>Future Work:</a:t>
            </a:r>
          </a:p>
          <a:p>
            <a:r>
              <a:rPr sz="2400" dirty="0"/>
              <a:t>- Add weather/event data</a:t>
            </a:r>
          </a:p>
          <a:p>
            <a:r>
              <a:rPr sz="2400" dirty="0"/>
              <a:t>- Deploy </a:t>
            </a:r>
            <a:r>
              <a:rPr sz="2400" dirty="0" err="1"/>
              <a:t>Streamlit</a:t>
            </a:r>
            <a:r>
              <a:rPr sz="2400" dirty="0"/>
              <a:t> dashboard</a:t>
            </a:r>
          </a:p>
          <a:p>
            <a:endParaRPr sz="2400" dirty="0"/>
          </a:p>
          <a:p>
            <a:r>
              <a:rPr sz="2400" dirty="0"/>
              <a:t>(C) 2025 Tabish Deshmukh - Data Analyst / ML Developer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246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Uber Trip Analysis - Predictive Modeling (Jan-Feb 2015)</vt:lpstr>
      <vt:lpstr>Dataset Overview</vt:lpstr>
      <vt:lpstr>Methodology</vt:lpstr>
      <vt:lpstr>Model Results</vt:lpstr>
      <vt:lpstr>SHAP Explainability</vt:lpstr>
      <vt:lpstr>Insights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Trip Analysis - Predictive Modeling (Jan-Feb 2015)</dc:title>
  <dc:subject/>
  <dc:creator/>
  <cp:keywords/>
  <dc:description>generated using python-pptx</dc:description>
  <cp:lastModifiedBy>Administrator</cp:lastModifiedBy>
  <cp:revision>8</cp:revision>
  <dcterms:created xsi:type="dcterms:W3CDTF">2013-01-27T09:14:16Z</dcterms:created>
  <dcterms:modified xsi:type="dcterms:W3CDTF">2025-12-04T15:29:02Z</dcterms:modified>
  <cp:category/>
</cp:coreProperties>
</file>